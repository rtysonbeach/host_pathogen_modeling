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74"/>
    <p:restoredTop sz="94675"/>
  </p:normalViewPr>
  <p:slideViewPr>
    <p:cSldViewPr snapToGrid="0">
      <p:cViewPr varScale="1">
        <p:scale>
          <a:sx n="74" d="100"/>
          <a:sy n="74" d="100"/>
        </p:scale>
        <p:origin x="16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" name="Shape 17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 = Malthusian + carrying capacity - host predator interactions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1625600" y="374650"/>
            <a:ext cx="9753600" cy="6502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idx="21"/>
          </p:nvPr>
        </p:nvSpPr>
        <p:spPr>
          <a:xfrm>
            <a:off x="6375400" y="635000"/>
            <a:ext cx="82169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idx="21"/>
          </p:nvPr>
        </p:nvSpPr>
        <p:spPr>
          <a:xfrm>
            <a:off x="3810000" y="25908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6556375" y="5092700"/>
            <a:ext cx="565785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Heron flying low over a beach with a short fence in the foreground"/>
          <p:cNvSpPr>
            <a:spLocks noGrp="1"/>
          </p:cNvSpPr>
          <p:nvPr>
            <p:ph type="pic" sz="half" idx="22"/>
          </p:nvPr>
        </p:nvSpPr>
        <p:spPr>
          <a:xfrm>
            <a:off x="6718300" y="749300"/>
            <a:ext cx="5334000" cy="5334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2832100" y="889000"/>
            <a:ext cx="119634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1308100" y="-50800"/>
            <a:ext cx="14782800" cy="9855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Modeling E. huxleyi 379 and Sulfitobacter D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defTabSz="543305">
              <a:defRPr sz="7440"/>
            </a:pPr>
            <a:r>
              <a:t>Modeling </a:t>
            </a:r>
            <a:r>
              <a:rPr i="1">
                <a:latin typeface="Helvetica Neue"/>
                <a:ea typeface="Helvetica Neue"/>
                <a:cs typeface="Helvetica Neue"/>
                <a:sym typeface="Helvetica Neue"/>
              </a:rPr>
              <a:t>E. huxleyi</a:t>
            </a:r>
            <a:r>
              <a:t> 379 and Sulfitobacter D7</a:t>
            </a:r>
          </a:p>
        </p:txBody>
      </p:sp>
      <p:sp>
        <p:nvSpPr>
          <p:cNvPr id="138" name="Jackson Page-Roth"/>
          <p:cNvSpPr txBox="1">
            <a:spLocks noGrp="1"/>
          </p:cNvSpPr>
          <p:nvPr>
            <p:ph type="subTitle" sz="quarter" idx="1"/>
          </p:nvPr>
        </p:nvSpPr>
        <p:spPr>
          <a:xfrm>
            <a:off x="1270000" y="5638800"/>
            <a:ext cx="10464800" cy="1130300"/>
          </a:xfrm>
          <a:prstGeom prst="rect">
            <a:avLst/>
          </a:prstGeom>
        </p:spPr>
        <p:txBody>
          <a:bodyPr/>
          <a:lstStyle/>
          <a:p>
            <a:r>
              <a:t>Jackson Page-Roth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Emiliania huxleyi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84886">
              <a:defRPr sz="6640"/>
            </a:pPr>
            <a:r>
              <a:rPr i="1">
                <a:latin typeface="Helvetica Neue"/>
                <a:ea typeface="Helvetica Neue"/>
                <a:cs typeface="Helvetica Neue"/>
                <a:sym typeface="Helvetica Neue"/>
              </a:rPr>
              <a:t>Emiliania huxleyi</a:t>
            </a:r>
            <a:r>
              <a:t> </a:t>
            </a:r>
          </a:p>
          <a:p>
            <a:pPr defTabSz="484886">
              <a:defRPr sz="6640"/>
            </a:pPr>
            <a:r>
              <a:t>(now </a:t>
            </a:r>
            <a:r>
              <a:rPr i="1">
                <a:latin typeface="Helvetica Neue"/>
                <a:ea typeface="Helvetica Neue"/>
                <a:cs typeface="Helvetica Neue"/>
                <a:sym typeface="Helvetica Neue"/>
              </a:rPr>
              <a:t>Gephyrocapsa huxleyi</a:t>
            </a:r>
            <a:r>
              <a:t>)</a:t>
            </a:r>
          </a:p>
        </p:txBody>
      </p:sp>
      <p:sp>
        <p:nvSpPr>
          <p:cNvPr id="141" name="Most abundant coccolithophore in the ocean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549900" cy="6286500"/>
          </a:xfrm>
          <a:prstGeom prst="rect">
            <a:avLst/>
          </a:prstGeom>
        </p:spPr>
        <p:txBody>
          <a:bodyPr/>
          <a:lstStyle/>
          <a:p>
            <a:r>
              <a:t>Most abundant coccolithophore in the ocean</a:t>
            </a:r>
          </a:p>
          <a:p>
            <a:r>
              <a:t>Massive annual blooms</a:t>
            </a:r>
          </a:p>
          <a:p>
            <a:r>
              <a:t>Important in global carbon and sulfur cycling</a:t>
            </a:r>
          </a:p>
          <a:p>
            <a:r>
              <a:t>Produces DMSP intracellularly</a:t>
            </a:r>
          </a:p>
        </p:txBody>
      </p:sp>
      <p:pic>
        <p:nvPicPr>
          <p:cNvPr id="142" name="fmars-05-00146-g001.jpg" descr="fmars-05-00146-g001.jpg"/>
          <p:cNvPicPr>
            <a:picLocks noChangeAspect="1"/>
          </p:cNvPicPr>
          <p:nvPr/>
        </p:nvPicPr>
        <p:blipFill>
          <a:blip r:embed="rId2"/>
          <a:srcRect r="53276" b="9989"/>
          <a:stretch>
            <a:fillRect/>
          </a:stretch>
        </p:blipFill>
        <p:spPr>
          <a:xfrm>
            <a:off x="7148512" y="3406973"/>
            <a:ext cx="4903803" cy="4653966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Neukermans and Fournier (2018)"/>
          <p:cNvSpPr txBox="1"/>
          <p:nvPr/>
        </p:nvSpPr>
        <p:spPr>
          <a:xfrm>
            <a:off x="10081894" y="8061126"/>
            <a:ext cx="1970406" cy="25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000"/>
            </a:lvl1pPr>
          </a:lstStyle>
          <a:p>
            <a:r>
              <a:t>Neukermans and Fournier (2018)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ulfitobacter D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i="1">
                <a:latin typeface="Helvetica Neue"/>
                <a:ea typeface="Helvetica Neue"/>
                <a:cs typeface="Helvetica Neue"/>
                <a:sym typeface="Helvetica Neue"/>
              </a:rPr>
              <a:t>Sulfitobacter</a:t>
            </a:r>
            <a:r>
              <a:t> D7</a:t>
            </a:r>
          </a:p>
        </p:txBody>
      </p:sp>
      <p:sp>
        <p:nvSpPr>
          <p:cNvPr id="146" name="Part of the Roseobacter clad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Part of the </a:t>
            </a:r>
            <a:r>
              <a:rPr i="1"/>
              <a:t>Roseobacter</a:t>
            </a:r>
            <a:r>
              <a:t> clade</a:t>
            </a:r>
          </a:p>
          <a:p>
            <a:r>
              <a:t>Some </a:t>
            </a:r>
            <a:r>
              <a:rPr i="1"/>
              <a:t>Sulfitobacters </a:t>
            </a:r>
            <a:r>
              <a:t>are commensal or even reciprocal with </a:t>
            </a:r>
            <a:r>
              <a:rPr i="1"/>
              <a:t>E. huxleyi</a:t>
            </a:r>
          </a:p>
          <a:p>
            <a:r>
              <a:t>D7 is pathogenic in certain conditions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D7 pathogenicity to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84886">
              <a:defRPr sz="6640"/>
            </a:pPr>
            <a:r>
              <a:t>D7 pathogenicity to </a:t>
            </a:r>
          </a:p>
          <a:p>
            <a:pPr defTabSz="484886">
              <a:defRPr sz="6640" i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E. huxleyi</a:t>
            </a:r>
          </a:p>
        </p:txBody>
      </p:sp>
      <p:pic>
        <p:nvPicPr>
          <p:cNvPr id="149" name="Screenshot 2025-10-07 at 10.34.04.png" descr="Screenshot 2025-10-07 at 10.34.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546" y="2413000"/>
            <a:ext cx="7511708" cy="6880192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Barak-Gavish, et al. (2018)"/>
          <p:cNvSpPr txBox="1"/>
          <p:nvPr/>
        </p:nvSpPr>
        <p:spPr>
          <a:xfrm>
            <a:off x="8626340" y="9293191"/>
            <a:ext cx="1631914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Barak-Gavish, et al. (2018)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Modeling equ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Modeling equations</a:t>
            </a:r>
          </a:p>
        </p:txBody>
      </p:sp>
      <p:pic>
        <p:nvPicPr>
          <p:cNvPr id="167" name="CodeCogsEqn-6.svg" descr="CodeCogsEqn-6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788930"/>
            <a:ext cx="4687613" cy="6973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CodeCogsEqn-7.svg" descr="CodeCogsEqn-7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413000"/>
            <a:ext cx="10661193" cy="140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CodeCogsEqn-8.svg" descr="CodeCogsEqn-8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4954990"/>
            <a:ext cx="6431326" cy="695550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H: host conc. (E. huxelyi) P: pathogen conc. (D7) B: bacteria conc. (all other bacteria)…"/>
          <p:cNvSpPr txBox="1"/>
          <p:nvPr/>
        </p:nvSpPr>
        <p:spPr>
          <a:xfrm>
            <a:off x="75812" y="8054615"/>
            <a:ext cx="12853176" cy="1390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2500"/>
            </a:pPr>
            <a:r>
              <a:rPr b="1" dirty="0"/>
              <a:t>H</a:t>
            </a:r>
            <a:r>
              <a:rPr dirty="0"/>
              <a:t>: host conc. (</a:t>
            </a:r>
            <a:r>
              <a:rPr i="1" dirty="0"/>
              <a:t>E. </a:t>
            </a:r>
            <a:r>
              <a:rPr i="1" dirty="0" err="1"/>
              <a:t>huxelyi</a:t>
            </a:r>
            <a:r>
              <a:rPr i="1" dirty="0"/>
              <a:t>) </a:t>
            </a:r>
            <a:r>
              <a:rPr b="1" dirty="0"/>
              <a:t>P</a:t>
            </a:r>
            <a:r>
              <a:rPr dirty="0"/>
              <a:t>: pathogen conc. (D7)</a:t>
            </a:r>
            <a:r>
              <a:rPr b="1" dirty="0"/>
              <a:t> B</a:t>
            </a:r>
            <a:r>
              <a:rPr dirty="0"/>
              <a:t>: bacteria conc. (all other bacteria)</a:t>
            </a:r>
          </a:p>
          <a:p>
            <a:pPr algn="ctr">
              <a:defRPr sz="2500"/>
            </a:pPr>
            <a:r>
              <a:rPr b="1" dirty="0"/>
              <a:t>mu</a:t>
            </a:r>
            <a:r>
              <a:rPr dirty="0"/>
              <a:t>: growth rate </a:t>
            </a:r>
            <a:r>
              <a:rPr b="1" dirty="0"/>
              <a:t>k</a:t>
            </a:r>
            <a:r>
              <a:rPr dirty="0"/>
              <a:t>: carrying capacity </a:t>
            </a:r>
            <a:r>
              <a:rPr b="1" dirty="0"/>
              <a:t>phi</a:t>
            </a:r>
            <a:r>
              <a:rPr dirty="0"/>
              <a:t>: interaction coefficient </a:t>
            </a:r>
            <a:r>
              <a:rPr b="1" dirty="0"/>
              <a:t>beta</a:t>
            </a:r>
            <a:r>
              <a:rPr dirty="0"/>
              <a:t>: “burst” size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2362200"/>
            <a:ext cx="12573000" cy="5029200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E. huxelyi 379 growt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i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E. huxelyi 379 </a:t>
            </a:r>
            <a:r>
              <a:rPr i="0">
                <a:latin typeface="+mn-lt"/>
                <a:ea typeface="+mn-ea"/>
                <a:cs typeface="+mn-cs"/>
                <a:sym typeface="Helvetica Neue Medium"/>
              </a:rPr>
              <a:t>growth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0A64D7-112C-26ED-5068-B52BDE40BB1B}"/>
              </a:ext>
            </a:extLst>
          </p:cNvPr>
          <p:cNvSpPr txBox="1"/>
          <p:nvPr/>
        </p:nvSpPr>
        <p:spPr>
          <a:xfrm>
            <a:off x="2986269" y="7703289"/>
            <a:ext cx="7696018" cy="11336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Total bacteria = P+D (from previous slide)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Estimating para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Estimating params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2362200"/>
            <a:ext cx="12573000" cy="5029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fining the model with 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02412">
              <a:defRPr sz="6880"/>
            </a:lvl1pPr>
          </a:lstStyle>
          <a:p>
            <a:r>
              <a:t>Refining the model with DE</a:t>
            </a:r>
          </a:p>
        </p:txBody>
      </p:sp>
      <p:sp>
        <p:nvSpPr>
          <p:cNvPr id="185" name="Best parameters: phi: 7.10e-09, beta: 20.82…"/>
          <p:cNvSpPr txBox="1">
            <a:spLocks noGrp="1"/>
          </p:cNvSpPr>
          <p:nvPr>
            <p:ph type="body" sz="quarter" idx="1"/>
          </p:nvPr>
        </p:nvSpPr>
        <p:spPr>
          <a:xfrm>
            <a:off x="1091073" y="7620000"/>
            <a:ext cx="11099801" cy="2133600"/>
          </a:xfrm>
          <a:prstGeom prst="rect">
            <a:avLst/>
          </a:prstGeom>
        </p:spPr>
        <p:txBody>
          <a:bodyPr/>
          <a:lstStyle/>
          <a:p>
            <a:r>
              <a:t>Best parameters: </a:t>
            </a:r>
            <a:r>
              <a:rPr b="1"/>
              <a:t>phi</a:t>
            </a:r>
            <a:r>
              <a:t>: 7.10e-09, </a:t>
            </a:r>
            <a:r>
              <a:rPr b="1"/>
              <a:t>beta</a:t>
            </a:r>
            <a:r>
              <a:t>: 20.82</a:t>
            </a:r>
          </a:p>
          <a:p>
            <a:r>
              <a:t>Normalized mean squared errors (</a:t>
            </a:r>
            <a:r>
              <a:rPr b="1"/>
              <a:t>MSE</a:t>
            </a:r>
            <a:r>
              <a:t>): 0.031</a:t>
            </a:r>
          </a:p>
        </p:txBody>
      </p:sp>
      <p:pic>
        <p:nvPicPr>
          <p:cNvPr id="18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2362200"/>
            <a:ext cx="12573000" cy="5029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arameter err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Parameter error</a:t>
            </a:r>
          </a:p>
        </p:txBody>
      </p:sp>
      <p:pic>
        <p:nvPicPr>
          <p:cNvPr id="189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73" y="2547572"/>
            <a:ext cx="12339454" cy="46584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Interaction rate changes based on DMSP released at death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38150">
              <a:defRPr sz="6000"/>
            </a:lvl1pPr>
          </a:lstStyle>
          <a:p>
            <a:r>
              <a:t>Interaction rate changes based on DMSP released at death?</a:t>
            </a:r>
          </a:p>
        </p:txBody>
      </p:sp>
      <p:pic>
        <p:nvPicPr>
          <p:cNvPr id="192" name="379_bacteria_dmsp_response.png" descr="379_bacteria_dmsp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87" y="2792116"/>
            <a:ext cx="12711226" cy="4169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Linear phi fun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Linear phi function</a:t>
            </a:r>
          </a:p>
        </p:txBody>
      </p:sp>
      <p:pic>
        <p:nvPicPr>
          <p:cNvPr id="195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0" y="2425700"/>
            <a:ext cx="10744200" cy="4902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CodeCogsEqn-9.svg" descr="CodeCogsEqn-9.sv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222" y="7791098"/>
            <a:ext cx="4434356" cy="1014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2425700"/>
            <a:ext cx="10744200" cy="4902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2362200"/>
            <a:ext cx="12573000" cy="5029200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Estimating para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Estimating params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Best parameters: x: 1.72e-10), beta: 16.76…"/>
          <p:cNvSpPr txBox="1">
            <a:spLocks noGrp="1"/>
          </p:cNvSpPr>
          <p:nvPr>
            <p:ph type="body" sz="quarter" idx="1"/>
          </p:nvPr>
        </p:nvSpPr>
        <p:spPr>
          <a:xfrm>
            <a:off x="952500" y="7594600"/>
            <a:ext cx="11099800" cy="2159000"/>
          </a:xfrm>
          <a:prstGeom prst="rect">
            <a:avLst/>
          </a:prstGeom>
        </p:spPr>
        <p:txBody>
          <a:bodyPr/>
          <a:lstStyle/>
          <a:p>
            <a:r>
              <a:t>Best parameters: </a:t>
            </a:r>
            <a:r>
              <a:rPr b="1"/>
              <a:t>x</a:t>
            </a:r>
            <a:r>
              <a:t>: 1.72e-10), </a:t>
            </a:r>
            <a:r>
              <a:rPr b="1"/>
              <a:t>beta</a:t>
            </a:r>
            <a:r>
              <a:t>: 16.76</a:t>
            </a:r>
          </a:p>
          <a:p>
            <a:r>
              <a:t>Normalized mean squared errors (</a:t>
            </a:r>
            <a:r>
              <a:rPr b="1"/>
              <a:t>MSE</a:t>
            </a:r>
            <a:r>
              <a:t>): 0.017</a:t>
            </a:r>
          </a:p>
        </p:txBody>
      </p:sp>
      <p:pic>
        <p:nvPicPr>
          <p:cNvPr id="203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2362200"/>
            <a:ext cx="12573000" cy="5029200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Refining the model with 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02412">
              <a:defRPr sz="6880"/>
            </a:lvl1pPr>
          </a:lstStyle>
          <a:p>
            <a:r>
              <a:t>Refining the model with DE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06" y="2695155"/>
            <a:ext cx="11601388" cy="4363290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Parameter err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Parameter error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DMSP cell quota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DMSP cell quotas</a:t>
            </a:r>
          </a:p>
        </p:txBody>
      </p:sp>
      <p:sp>
        <p:nvSpPr>
          <p:cNvPr id="210" name="0.8 pg DMSP/cell * 1ug/10^6pg = 8*10-7 ug DMSP/cel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43305">
              <a:spcBef>
                <a:spcPts val="3900"/>
              </a:spcBef>
              <a:buSzTx/>
              <a:buNone/>
              <a:defRPr sz="2976"/>
            </a:pPr>
            <a:r>
              <a:t>0.8 pg DMSP/cell * 1ug/10^6pg = </a:t>
            </a:r>
            <a:r>
              <a:rPr b="1"/>
              <a:t>8*10-7 ug DMSP/cell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976"/>
            </a:pPr>
            <a:r>
              <a:t>DMSP molar mass: 134.1967g/mol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976"/>
            </a:pPr>
            <a:r>
              <a:t>10 umol/L(uM) DMSP * 134.1967ug/umol = 1.34*10^3 ug/L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976"/>
            </a:pPr>
            <a:r>
              <a:t>100 umol/L(uM) DMSP * 134.1967ug/umol = 1.34*10^4 ug/L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976"/>
            </a:pPr>
            <a:r>
              <a:t>500 umol/L(uM) DMSP * 134.1967ug/umol = 6.7*10^4 ug/L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976"/>
            </a:pPr>
            <a:r>
              <a:t>1.8*10^6 cells/mL * 8*10-7 ug DMSP/cell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976"/>
            </a:pPr>
            <a:r>
              <a:t>10^8 cells/L * 8*10-7 ug DMSP/cell = </a:t>
            </a:r>
            <a:r>
              <a:rPr b="1"/>
              <a:t>80 ug DMSP/L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Ques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Questions</a:t>
            </a:r>
          </a:p>
        </p:txBody>
      </p:sp>
      <p:sp>
        <p:nvSpPr>
          <p:cNvPr id="213" name="Added DMSP compared to dead cells released DMSP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Added DMSP compared to dead cells released DMSP</a:t>
            </a:r>
          </a:p>
          <a:p>
            <a:r>
              <a:t>Adding phages and </a:t>
            </a:r>
            <a:r>
              <a:rPr i="1"/>
              <a:t>E. hux </a:t>
            </a:r>
            <a:r>
              <a:t>2090</a:t>
            </a:r>
          </a:p>
          <a:p>
            <a:r>
              <a:t>Background bacterial community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6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17" name="379_bacteria_model_0dmsp.png" descr="379_bacteria_model_0dm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968"/>
            <a:ext cx="13004801" cy="4265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0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21" name="379_bacteria_model_10dmsp.png" descr="379_bacteria_model_10dm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969"/>
            <a:ext cx="13004800" cy="42656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4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25" name="379_bacteria_model_100dmsp.png" descr="379_bacteria_model_100dm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3969"/>
            <a:ext cx="13004801" cy="42656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8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29" name="379_bacteria_model_500dmsp.png" descr="379_bacteria_model_500dm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43969"/>
            <a:ext cx="13004801" cy="42656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2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33" name="phi_dmsp.png" descr="phi_dm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85" y="1435100"/>
            <a:ext cx="10052230" cy="6883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342</Words>
  <Application>Microsoft Office PowerPoint</Application>
  <PresentationFormat>Custom</PresentationFormat>
  <Paragraphs>46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Helvetica Light</vt:lpstr>
      <vt:lpstr>Helvetica Neue</vt:lpstr>
      <vt:lpstr>Helvetica Neue Light</vt:lpstr>
      <vt:lpstr>Helvetica Neue Medium</vt:lpstr>
      <vt:lpstr>Helvetica Neue Thin</vt:lpstr>
      <vt:lpstr>White</vt:lpstr>
      <vt:lpstr>Modeling E. huxleyi 379 and Sulfitobacter D7</vt:lpstr>
      <vt:lpstr>Emiliania huxleyi  (now Gephyrocapsa huxleyi)</vt:lpstr>
      <vt:lpstr>Sulfitobacter D7</vt:lpstr>
      <vt:lpstr>D7 pathogenicity to  E. huxleyi</vt:lpstr>
      <vt:lpstr>Modeling equations</vt:lpstr>
      <vt:lpstr>E. huxelyi 379 growth</vt:lpstr>
      <vt:lpstr>Estimating params</vt:lpstr>
      <vt:lpstr>Refining the model with DE</vt:lpstr>
      <vt:lpstr>Parameter error</vt:lpstr>
      <vt:lpstr>Interaction rate changes based on DMSP released at death?</vt:lpstr>
      <vt:lpstr>Linear phi function</vt:lpstr>
      <vt:lpstr>Estimating params</vt:lpstr>
      <vt:lpstr>Refining the model with DE</vt:lpstr>
      <vt:lpstr>Parameter error</vt:lpstr>
      <vt:lpstr>DMSP cell quotas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Tyson Beach</cp:lastModifiedBy>
  <cp:revision>2</cp:revision>
  <dcterms:modified xsi:type="dcterms:W3CDTF">2025-12-04T01:18:30Z</dcterms:modified>
</cp:coreProperties>
</file>